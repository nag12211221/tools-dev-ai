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78992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Key-Off Load / NM Wake Diagnostic Tool</a:t>
            </a:r>
          </a:p>
          <a:p>
            <a:pPr>
              <a:spcBef>
                <a:spcPts val="1800"/>
              </a:spcBef>
              <a:defRPr sz="2000">
                <a:solidFill>
                  <a:srgbClr val="BED2E6"/>
                </a:solidFill>
              </a:defRPr>
            </a:pPr>
            <a:r>
              <a:t>Automated detection of ECUs causing post key-off battery drain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Problem and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465462"/>
                </a:solidFill>
              </a:defRPr>
            </a:pPr>
            <a:r>
              <a:t>ECUs remaining active after key-off can prevent CAN sleep and drain battery capacity.</a:t>
            </a:r>
          </a:p>
          <a:p>
            <a:pPr>
              <a:spcAft>
                <a:spcPts val="1400"/>
              </a:spcAft>
              <a:defRPr sz="2200">
                <a:solidFill>
                  <a:srgbClr val="465462"/>
                </a:solidFill>
              </a:defRPr>
            </a:pPr>
            <a:r>
              <a:t>Late sleep and stuck-awake nodes drive repeat diagnostics and warranty escalation.</a:t>
            </a:r>
          </a:p>
          <a:p>
            <a:pPr>
              <a:spcAft>
                <a:spcPts val="1400"/>
              </a:spcAft>
              <a:defRPr sz="2200">
                <a:solidFill>
                  <a:srgbClr val="465462"/>
                </a:solidFill>
              </a:defRPr>
            </a:pPr>
            <a:r>
              <a:t>Manual analysis of large traces is slow and inconsistent across teams.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Solution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465462"/>
                </a:solidFill>
              </a:defRPr>
            </a:pPr>
            <a:r>
              <a:t>Automated ECU status classification: NORMAL, SLOW, VIOLATION, STUCK AWAKE.</a:t>
            </a:r>
          </a:p>
          <a:p>
            <a:pPr>
              <a:spcAft>
                <a:spcPts val="1400"/>
              </a:spcAft>
              <a:defRPr sz="2200">
                <a:solidFill>
                  <a:srgbClr val="465462"/>
                </a:solidFill>
              </a:defRPr>
            </a:pPr>
            <a:r>
              <a:t>Per-ECU timeline with key-off reference for rapid evidence review.</a:t>
            </a:r>
          </a:p>
          <a:p>
            <a:pPr>
              <a:spcAft>
                <a:spcPts val="1400"/>
              </a:spcAft>
              <a:defRPr sz="2200">
                <a:solidFill>
                  <a:srgbClr val="465462"/>
                </a:solidFill>
              </a:defRPr>
            </a:pPr>
            <a:r>
              <a:t>Configurable thresholds and structured export outputs for issue tracking.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Analysis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2651760" cy="1828800"/>
          </a:xfrm>
          <a:prstGeom prst="rect">
            <a:avLst/>
          </a:prstGeom>
          <a:solidFill>
            <a:srgbClr val="EBF2F9"/>
          </a:solidFill>
          <a:ln>
            <a:solidFill>
              <a:srgbClr val="1E6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0D1B2A"/>
                </a:solidFill>
              </a:defRPr>
            </a:pPr>
            <a:r>
              <a:t>1. Load Log</a:t>
            </a:r>
          </a:p>
          <a:p>
            <a:pPr>
              <a:defRPr sz="1300">
                <a:solidFill>
                  <a:srgbClr val="465462"/>
                </a:solidFill>
              </a:defRPr>
            </a:pPr>
            <a:r>
              <a:t>ASC / CSV / TXT</a:t>
            </a:r>
          </a:p>
        </p:txBody>
      </p:sp>
      <p:sp>
        <p:nvSpPr>
          <p:cNvPr id="5" name="Can 4"/>
          <p:cNvSpPr/>
          <p:nvPr/>
        </p:nvSpPr>
        <p:spPr>
          <a:xfrm>
            <a:off x="3337560" y="2788920"/>
            <a:ext cx="502920" cy="411480"/>
          </a:xfrm>
          <a:prstGeom prst="can">
            <a:avLst/>
          </a:prstGeom>
          <a:solidFill>
            <a:srgbClr val="1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520439" y="2103120"/>
            <a:ext cx="2651760" cy="1828800"/>
          </a:xfrm>
          <a:prstGeom prst="rect">
            <a:avLst/>
          </a:prstGeom>
          <a:solidFill>
            <a:srgbClr val="EBF2F9"/>
          </a:solidFill>
          <a:ln>
            <a:solidFill>
              <a:srgbClr val="1E6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0D1B2A"/>
                </a:solidFill>
              </a:defRPr>
            </a:pPr>
            <a:r>
              <a:t>2. Configure</a:t>
            </a:r>
          </a:p>
          <a:p>
            <a:pPr>
              <a:defRPr sz="1300">
                <a:solidFill>
                  <a:srgbClr val="465462"/>
                </a:solidFill>
              </a:defRPr>
            </a:pPr>
            <a:r>
              <a:t>Key-off + thresholds</a:t>
            </a:r>
          </a:p>
        </p:txBody>
      </p:sp>
      <p:sp>
        <p:nvSpPr>
          <p:cNvPr id="7" name="Can 6"/>
          <p:cNvSpPr/>
          <p:nvPr/>
        </p:nvSpPr>
        <p:spPr>
          <a:xfrm>
            <a:off x="6217920" y="2788920"/>
            <a:ext cx="502920" cy="411480"/>
          </a:xfrm>
          <a:prstGeom prst="can">
            <a:avLst/>
          </a:prstGeom>
          <a:solidFill>
            <a:srgbClr val="1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2103120"/>
            <a:ext cx="2651760" cy="1828800"/>
          </a:xfrm>
          <a:prstGeom prst="rect">
            <a:avLst/>
          </a:prstGeom>
          <a:solidFill>
            <a:srgbClr val="EBF2F9"/>
          </a:solidFill>
          <a:ln>
            <a:solidFill>
              <a:srgbClr val="1E6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0D1B2A"/>
                </a:solidFill>
              </a:defRPr>
            </a:pPr>
            <a:r>
              <a:t>3. Analyse</a:t>
            </a:r>
          </a:p>
          <a:p>
            <a:pPr>
              <a:defRPr sz="1300">
                <a:solidFill>
                  <a:srgbClr val="465462"/>
                </a:solidFill>
              </a:defRPr>
            </a:pPr>
            <a:r>
              <a:t>Auto ECU classification</a:t>
            </a:r>
          </a:p>
        </p:txBody>
      </p:sp>
      <p:sp>
        <p:nvSpPr>
          <p:cNvPr id="9" name="Can 8"/>
          <p:cNvSpPr/>
          <p:nvPr/>
        </p:nvSpPr>
        <p:spPr>
          <a:xfrm>
            <a:off x="9098280" y="2788920"/>
            <a:ext cx="502920" cy="411480"/>
          </a:xfrm>
          <a:prstGeom prst="can">
            <a:avLst/>
          </a:prstGeom>
          <a:solidFill>
            <a:srgbClr val="1E6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2103120"/>
            <a:ext cx="2651760" cy="1828800"/>
          </a:xfrm>
          <a:prstGeom prst="rect">
            <a:avLst/>
          </a:prstGeom>
          <a:solidFill>
            <a:srgbClr val="EBF2F9"/>
          </a:solidFill>
          <a:ln>
            <a:solidFill>
              <a:srgbClr val="1E6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0D1B2A"/>
                </a:solidFill>
              </a:defRPr>
            </a:pPr>
            <a:r>
              <a:t>4. Report</a:t>
            </a:r>
          </a:p>
          <a:p>
            <a:pPr>
              <a:defRPr sz="1300">
                <a:solidFill>
                  <a:srgbClr val="465462"/>
                </a:solidFill>
              </a:defRPr>
            </a:pPr>
            <a:r>
              <a:t>Review + export output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Validation Dataset Coverage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5344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File</a:t>
                      </a:r>
                    </a:p>
                  </a:txBody>
                  <a:tcPr>
                    <a:solidFill>
                      <a:srgbClr val="1E6F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ECUs</a:t>
                      </a:r>
                    </a:p>
                  </a:txBody>
                  <a:tcPr>
                    <a:solidFill>
                      <a:srgbClr val="1E6F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E6F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1E6FA8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01_normal_shutdown_PASS.csv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0 violations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02_multiple_violators_FAIL.csv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Mixed failures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7 violations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03_vector_asc_format.asc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Vector ASC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2 stuck ECUs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05_realworld_complex_25ECUs.csv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Vehicle-scale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8 violations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06_stress_test_50ECUs.csv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Stress volume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65462"/>
                          </a:solidFill>
                        </a:defRPr>
                      </a:pPr>
                      <a:r>
                        <a:t>15 violations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Delivery Package and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465462"/>
                </a:solidFill>
              </a:defRPr>
            </a:pPr>
            <a:r>
              <a:t>Deliverables: KeyOffLoad_Diagnostic_Tool.html, Expo_OnePager.md, Expo_Showcase_Presentation.pptx.</a:t>
            </a:r>
          </a:p>
          <a:p>
            <a:pPr>
              <a:spcAft>
                <a:spcPts val="1400"/>
              </a:spcAft>
              <a:defRPr sz="2200">
                <a:solidFill>
                  <a:srgbClr val="465462"/>
                </a:solidFill>
              </a:defRPr>
            </a:pPr>
            <a:r>
              <a:t>Reference guide: OUTPUT_ANALYSIS_GUIDE.md with interpretation workflow and severity criteria.</a:t>
            </a:r>
          </a:p>
          <a:p>
            <a:pPr>
              <a:spcAft>
                <a:spcPts val="1400"/>
              </a:spcAft>
              <a:defRPr sz="2200">
                <a:solidFill>
                  <a:srgbClr val="465462"/>
                </a:solidFill>
              </a:defRPr>
            </a:pPr>
            <a:r>
              <a:t>Demo flow: Load dataset → Configure key-off time → Analyse → Review violations and export.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