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00D4FF"/>
                </a:solidFill>
              </a:defRPr>
            </a:pPr>
            <a:r>
              <a:t>🔋 Key-Off Load / NM Wake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Diagnostic Tool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1148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CCCCCC"/>
                </a:solidFill>
              </a:defRPr>
            </a:pPr>
            <a:r>
              <a:t>Automated Detection of ECUs Causing Parasitic Battery Drain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4864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00D4FF"/>
                </a:solidFill>
              </a:defRPr>
            </a:pPr>
            <a:r>
              <a:t>Browser-Based Tool — No Installation Required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D4FF"/>
                </a:solidFill>
              </a:defRPr>
            </a:pPr>
            <a:r>
              <a:t>The Problem: Key-Off Battery Drain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5486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• ECUs fail to enter sleep mode after key-off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• NM (Network Management) state machine violations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• Parasitic current draw exceeds OEM spec (typically &lt;50mA)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• Leads to dead batteries, warranty claims, customer dissatisfaction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• Root cause analysis takes 1-2 days with manual log review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• No standardized tooling exists — most teams use spreadsheets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0" y="118872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CCCCCC"/>
                </a:solidFill>
              </a:defRPr>
            </a:pPr>
            <a:r>
              <a:t>💰 Business Impact:</a:t>
            </a:r>
          </a:p>
          <a:p>
            <a:pPr>
              <a:spcAft>
                <a:spcPts val="800"/>
              </a:spcAft>
              <a:defRPr sz="1600">
                <a:solidFill>
                  <a:srgbClr val="CCCCCC"/>
                </a:solidFill>
              </a:defRPr>
            </a:pPr>
            <a:r>
              <a:t>  • Average warranty cost: $200-500/vehicle</a:t>
            </a:r>
          </a:p>
          <a:p>
            <a:pPr>
              <a:spcAft>
                <a:spcPts val="800"/>
              </a:spcAft>
              <a:defRPr sz="1600">
                <a:solidFill>
                  <a:srgbClr val="CCCCCC"/>
                </a:solidFill>
              </a:defRPr>
            </a:pPr>
            <a:r>
              <a:t>  • Field failure rate: 2-5% on new platforms</a:t>
            </a:r>
          </a:p>
          <a:p>
            <a:pPr>
              <a:spcAft>
                <a:spcPts val="800"/>
              </a:spcAft>
              <a:defRPr sz="1600">
                <a:solidFill>
                  <a:srgbClr val="CCCCCC"/>
                </a:solidFill>
              </a:defRPr>
            </a:pPr>
            <a:r>
              <a:t>  • Investigation time: 8-16 hours per issue</a:t>
            </a:r>
          </a:p>
          <a:p>
            <a:pPr>
              <a:spcAft>
                <a:spcPts val="800"/>
              </a:spcAft>
              <a:defRPr sz="1600">
                <a:solidFill>
                  <a:srgbClr val="CCCCCC"/>
                </a:solidFill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CCCCCC"/>
                </a:solidFill>
              </a:defRPr>
            </a:pPr>
            <a:r>
              <a:t>🎯 Affected Teams:</a:t>
            </a:r>
          </a:p>
          <a:p>
            <a:pPr>
              <a:spcAft>
                <a:spcPts val="800"/>
              </a:spcAft>
              <a:defRPr sz="1600">
                <a:solidFill>
                  <a:srgbClr val="CCCCCC"/>
                </a:solidFill>
              </a:defRPr>
            </a:pPr>
            <a:r>
              <a:t>  • Network Integration</a:t>
            </a:r>
          </a:p>
          <a:p>
            <a:pPr>
              <a:spcAft>
                <a:spcPts val="800"/>
              </a:spcAft>
              <a:defRPr sz="1600">
                <a:solidFill>
                  <a:srgbClr val="CCCCCC"/>
                </a:solidFill>
              </a:defRPr>
            </a:pPr>
            <a:r>
              <a:t>  • Body Electronics</a:t>
            </a:r>
          </a:p>
          <a:p>
            <a:pPr>
              <a:spcAft>
                <a:spcPts val="800"/>
              </a:spcAft>
              <a:defRPr sz="1600">
                <a:solidFill>
                  <a:srgbClr val="CCCCCC"/>
                </a:solidFill>
              </a:defRPr>
            </a:pPr>
            <a:r>
              <a:t>  • Vehicle Validation</a:t>
            </a:r>
          </a:p>
          <a:p>
            <a:pPr>
              <a:spcAft>
                <a:spcPts val="800"/>
              </a:spcAft>
              <a:defRPr sz="1600">
                <a:solidFill>
                  <a:srgbClr val="CCCCCC"/>
                </a:solidFill>
              </a:defRPr>
            </a:pPr>
            <a:r>
              <a:t>  • Diagnostics / Aftermarket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D4FF"/>
                </a:solidFill>
              </a:defRPr>
            </a:pPr>
            <a:r>
              <a:t>The Solution: Automated NM Wake Diagnostic Tool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5486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FFFFFF"/>
                </a:solidFill>
              </a:defRPr>
            </a:pPr>
            <a:r>
              <a:t>✅ Browser-based — works on any machine, no Python/install needed</a:t>
            </a:r>
          </a:p>
          <a:p>
            <a:pPr>
              <a:spcAft>
                <a:spcPts val="800"/>
              </a:spcAft>
              <a:defRPr sz="1700">
                <a:solidFill>
                  <a:srgbClr val="FFFFFF"/>
                </a:solidFill>
              </a:defRPr>
            </a:pPr>
            <a:r>
              <a:t>✅ Parses NM logs (ASC, CSV, TXT formats)</a:t>
            </a:r>
          </a:p>
          <a:p>
            <a:pPr>
              <a:spcAft>
                <a:spcPts val="800"/>
              </a:spcAft>
              <a:defRPr sz="1700">
                <a:solidFill>
                  <a:srgbClr val="FFFFFF"/>
                </a:solidFill>
              </a:defRPr>
            </a:pPr>
            <a:r>
              <a:t>✅ Configurable thresholds (key-off time, max wake, NM timeout)</a:t>
            </a:r>
          </a:p>
          <a:p>
            <a:pPr>
              <a:spcAft>
                <a:spcPts val="800"/>
              </a:spcAft>
              <a:defRPr sz="1700">
                <a:solidFill>
                  <a:srgbClr val="FFFFFF"/>
                </a:solidFill>
              </a:defRPr>
            </a:pPr>
            <a:r>
              <a:t>✅ Visual NM state timeline per ECU</a:t>
            </a:r>
          </a:p>
          <a:p>
            <a:pPr>
              <a:spcAft>
                <a:spcPts val="800"/>
              </a:spcAft>
              <a:defRPr sz="1700">
                <a:solidFill>
                  <a:srgbClr val="FFFFFF"/>
                </a:solidFill>
              </a:defRPr>
            </a:pPr>
            <a:r>
              <a:t>✅ Automatic violation detection with severity</a:t>
            </a:r>
          </a:p>
          <a:p>
            <a:pPr>
              <a:spcAft>
                <a:spcPts val="800"/>
              </a:spcAft>
              <a:defRPr sz="1700">
                <a:solidFill>
                  <a:srgbClr val="FFFFFF"/>
                </a:solidFill>
              </a:defRPr>
            </a:pPr>
            <a:r>
              <a:t>✅ Root cause summary with actionable recommendations</a:t>
            </a:r>
          </a:p>
          <a:p>
            <a:pPr>
              <a:spcAft>
                <a:spcPts val="800"/>
              </a:spcAft>
              <a:defRPr sz="1700">
                <a:solidFill>
                  <a:srgbClr val="FFFFFF"/>
                </a:solidFill>
              </a:defRPr>
            </a:pPr>
            <a:r>
              <a:t>✅ Export to CSV/JSON for integration with reports</a:t>
            </a:r>
          </a:p>
          <a:p>
            <a:pPr>
              <a:spcAft>
                <a:spcPts val="800"/>
              </a:spcAft>
              <a:defRPr sz="1700">
                <a:solidFill>
                  <a:srgbClr val="FFFFFF"/>
                </a:solidFill>
              </a:defRPr>
            </a:pPr>
            <a:r>
              <a:t>✅ 100% local processing — no data leaves the machine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0" y="118872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CCCCCC"/>
                </a:solidFill>
              </a:defRPr>
            </a:pPr>
            <a:r>
              <a:t>⏱️ Time Savings:</a:t>
            </a:r>
          </a:p>
          <a:p>
            <a:pPr>
              <a:spcAft>
                <a:spcPts val="800"/>
              </a:spcAft>
              <a:defRPr sz="1600">
                <a:solidFill>
                  <a:srgbClr val="CCCCCC"/>
                </a:solidFill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CCCCCC"/>
                </a:solidFill>
              </a:defRPr>
            </a:pPr>
            <a:r>
              <a:t>  Before:  8-16 hours manual analysis</a:t>
            </a:r>
          </a:p>
          <a:p>
            <a:pPr>
              <a:spcAft>
                <a:spcPts val="800"/>
              </a:spcAft>
              <a:defRPr sz="1600">
                <a:solidFill>
                  <a:srgbClr val="CCCCCC"/>
                </a:solidFill>
              </a:defRPr>
            </a:pPr>
            <a:r>
              <a:t>  After:   &lt; 5 minutes automated scan</a:t>
            </a:r>
          </a:p>
          <a:p>
            <a:pPr>
              <a:spcAft>
                <a:spcPts val="800"/>
              </a:spcAft>
              <a:defRPr sz="1600">
                <a:solidFill>
                  <a:srgbClr val="CCCCCC"/>
                </a:solidFill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CCCCCC"/>
                </a:solidFill>
              </a:defRPr>
            </a:pPr>
            <a:r>
              <a:t>📊 Output Includes:</a:t>
            </a:r>
          </a:p>
          <a:p>
            <a:pPr>
              <a:spcAft>
                <a:spcPts val="800"/>
              </a:spcAft>
              <a:defRPr sz="1600">
                <a:solidFill>
                  <a:srgbClr val="CCCCCC"/>
                </a:solidFill>
              </a:defRPr>
            </a:pPr>
            <a:r>
              <a:t>  • Per-ECU sleep/wake state table</a:t>
            </a:r>
          </a:p>
          <a:p>
            <a:pPr>
              <a:spcAft>
                <a:spcPts val="800"/>
              </a:spcAft>
              <a:defRPr sz="1600">
                <a:solidFill>
                  <a:srgbClr val="CCCCCC"/>
                </a:solidFill>
              </a:defRPr>
            </a:pPr>
            <a:r>
              <a:t>  • Color-coded timeline visualization</a:t>
            </a:r>
          </a:p>
          <a:p>
            <a:pPr>
              <a:spcAft>
                <a:spcPts val="800"/>
              </a:spcAft>
              <a:defRPr sz="1600">
                <a:solidFill>
                  <a:srgbClr val="CCCCCC"/>
                </a:solidFill>
              </a:defRPr>
            </a:pPr>
            <a:r>
              <a:t>  • Violation list with severity</a:t>
            </a:r>
          </a:p>
          <a:p>
            <a:pPr>
              <a:spcAft>
                <a:spcPts val="800"/>
              </a:spcAft>
              <a:defRPr sz="1600">
                <a:solidFill>
                  <a:srgbClr val="CCCCCC"/>
                </a:solidFill>
              </a:defRPr>
            </a:pPr>
            <a:r>
              <a:t>  • Exportable diagnostic report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D4FF"/>
                </a:solidFill>
              </a:defRPr>
            </a:pPr>
            <a:r>
              <a:t>How It Works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3200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1️⃣ INPUT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Upload or paste NM log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from CANalyzer/CANoe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(.asc, .csv, .txt)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Set key-off timestamp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and thresholds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0" y="1371600"/>
            <a:ext cx="3657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2️⃣ ANALYZE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Parse NM state transitions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Group by ECU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Detect wake violations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Calculate time-to-sleep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Flag bus-holding ECUs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0" y="1371600"/>
            <a:ext cx="4114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3️⃣ REPORT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Visual timeline per ECU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Violation summary table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Severity classification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Root cause &amp; recommendation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Export CSV / JSON / Print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D4FF"/>
                </a:solidFill>
              </a:defRPr>
            </a:pPr>
            <a:r>
              <a:t>Demo &amp; 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5486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FFFFFF"/>
                </a:solidFill>
              </a:defRPr>
            </a:pPr>
            <a:r>
              <a:t>🎬 Live Demo:</a:t>
            </a:r>
          </a:p>
          <a:p>
            <a:pPr>
              <a:spcAft>
                <a:spcPts val="800"/>
              </a:spcAft>
              <a:defRPr sz="1700">
                <a:solidFill>
                  <a:srgbClr val="FFFFFF"/>
                </a:solidFill>
              </a:defRPr>
            </a:pPr>
            <a:r>
              <a:t>  • Open KeyOffLoad_Diagnostic_Tool.html in any browser</a:t>
            </a:r>
          </a:p>
          <a:p>
            <a:pPr>
              <a:spcAft>
                <a:spcPts val="800"/>
              </a:spcAft>
              <a:defRPr sz="1700">
                <a:solidFill>
                  <a:srgbClr val="FFFFFF"/>
                </a:solidFill>
              </a:defRPr>
            </a:pPr>
            <a:r>
              <a:t>  • Click 'Load Demo Data' to see sample analysis</a:t>
            </a:r>
          </a:p>
          <a:p>
            <a:pPr>
              <a:spcAft>
                <a:spcPts val="800"/>
              </a:spcAft>
              <a:defRPr sz="1700">
                <a:solidFill>
                  <a:srgbClr val="FFFFFF"/>
                </a:solidFill>
              </a:defRPr>
            </a:pPr>
            <a:r>
              <a:t>  • Click 'Analyze Log' to view results</a:t>
            </a:r>
          </a:p>
          <a:p>
            <a:pPr>
              <a:spcAft>
                <a:spcPts val="800"/>
              </a:spcAft>
              <a:defRPr sz="1700">
                <a:solidFill>
                  <a:srgbClr val="FFFFFF"/>
                </a:solidFill>
              </a:defRPr>
            </a:pPr>
            <a:r>
              <a:t>  • Try with your own NM logs!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0" y="1188720"/>
            <a:ext cx="5029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CCCCCC"/>
                </a:solidFill>
              </a:defRPr>
            </a:pPr>
            <a:r>
              <a:t>🚀 Future Enhancements:</a:t>
            </a:r>
          </a:p>
          <a:p>
            <a:pPr>
              <a:spcAft>
                <a:spcPts val="800"/>
              </a:spcAft>
              <a:defRPr sz="1700">
                <a:solidFill>
                  <a:srgbClr val="CCCCCC"/>
                </a:solidFill>
              </a:defRPr>
            </a:pPr>
            <a:r>
              <a:t>  • Direct .blf (Vector binary) parsing</a:t>
            </a:r>
          </a:p>
          <a:p>
            <a:pPr>
              <a:spcAft>
                <a:spcPts val="800"/>
              </a:spcAft>
              <a:defRPr sz="1700">
                <a:solidFill>
                  <a:srgbClr val="CCCCCC"/>
                </a:solidFill>
              </a:defRPr>
            </a:pPr>
            <a:r>
              <a:t>  • Integration with CANoe COM API</a:t>
            </a:r>
          </a:p>
          <a:p>
            <a:pPr>
              <a:spcAft>
                <a:spcPts val="800"/>
              </a:spcAft>
              <a:defRPr sz="1700">
                <a:solidFill>
                  <a:srgbClr val="CCCCCC"/>
                </a:solidFill>
              </a:defRPr>
            </a:pPr>
            <a:r>
              <a:t>  • Batch analysis of overnight logs</a:t>
            </a:r>
          </a:p>
          <a:p>
            <a:pPr>
              <a:spcAft>
                <a:spcPts val="800"/>
              </a:spcAft>
              <a:defRPr sz="1700">
                <a:solidFill>
                  <a:srgbClr val="CCCCCC"/>
                </a:solidFill>
              </a:defRPr>
            </a:pPr>
            <a:r>
              <a:t>  • Current measurement overlay</a:t>
            </a:r>
          </a:p>
          <a:p>
            <a:pPr>
              <a:spcAft>
                <a:spcPts val="800"/>
              </a:spcAft>
              <a:defRPr sz="1700">
                <a:solidFill>
                  <a:srgbClr val="CCCCCC"/>
                </a:solidFill>
              </a:defRPr>
            </a:pPr>
            <a:r>
              <a:t>  • JIRA ticket auto-generation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389120"/>
            <a:ext cx="10972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00D4FF"/>
                </a:solidFill>
              </a:defRPr>
            </a:pPr>
            <a:r>
              <a:t>📧 Share: Just send the HTML file — recipients double-click to open in any browser</a:t>
            </a:r>
          </a:p>
          <a:p>
            <a:pPr>
              <a:spcAft>
                <a:spcPts val="800"/>
              </a:spcAft>
              <a:defRPr sz="1800">
                <a:solidFill>
                  <a:srgbClr val="00D4FF"/>
                </a:solidFill>
              </a:defRPr>
            </a:pPr>
            <a:r>
              <a:t>💻 No installation, no Python, no licenses — works offline</a:t>
            </a:r>
          </a:p>
          <a:p>
            <a:pPr>
              <a:spcAft>
                <a:spcPts val="800"/>
              </a:spcAft>
              <a:defRPr sz="1800">
                <a:solidFill>
                  <a:srgbClr val="00D4FF"/>
                </a:solidFill>
              </a:defRPr>
            </a:pPr>
          </a:p>
          <a:p>
            <a:pPr>
              <a:spcAft>
                <a:spcPts val="800"/>
              </a:spcAft>
              <a:defRPr sz="1800">
                <a:solidFill>
                  <a:srgbClr val="00D4FF"/>
                </a:solidFill>
              </a:defRPr>
            </a:pPr>
            <a:r>
              <a:t>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